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32520" y="-411480"/>
            <a:ext cx="3931920" cy="3931920"/>
          </a:xfrm>
          <a:prstGeom prst="ellipse">
            <a:avLst/>
          </a:prstGeom>
          <a:solidFill>
            <a:srgbClr val="E2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502920"/>
            <a:ext cx="2103120" cy="2103120"/>
          </a:xfrm>
          <a:prstGeom prst="ellipse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363D"/>
                </a:solidFill>
              </a:rPr>
              <a:t>Air Quality Index Prediction</a:t>
            </a:r>
          </a:p>
          <a:p>
            <a:r>
              <a:rPr sz="2400">
                <a:solidFill>
                  <a:srgbClr val="27776F"/>
                </a:solidFill>
              </a:rPr>
              <a:t>Using Ridge and Lasso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4600"/>
            <a:ext cx="1417320" cy="347472"/>
          </a:xfrm>
          <a:prstGeom prst="roundRect">
            <a:avLst/>
          </a:prstGeom>
          <a:solidFill>
            <a:srgbClr val="CF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53288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REVIEW –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69494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3135"/>
                </a:solidFill>
              </a:defRPr>
            </a:pPr>
            <a:r>
              <a:t>Penneti Bindhu Madhavi – 2520030077</a:t>
            </a:r>
          </a:p>
          <a:p>
            <a:pPr>
              <a:spcAft>
                <a:spcPts val="800"/>
              </a:spcAft>
              <a:defRPr sz="1500">
                <a:solidFill>
                  <a:srgbClr val="233135"/>
                </a:solidFill>
              </a:defRPr>
            </a:pPr>
            <a:r>
              <a:t>Mandapati Keerthi Sri – 2520030079</a:t>
            </a:r>
          </a:p>
          <a:p>
            <a:pPr>
              <a:spcAft>
                <a:spcPts val="800"/>
              </a:spcAft>
              <a:defRPr sz="1250">
                <a:solidFill>
                  <a:srgbClr val="233135"/>
                </a:solidFill>
              </a:defRPr>
            </a:pPr>
            <a:r>
              <a:t>Guide: Shaik Asif, Assistant Professor, CSE</a:t>
            </a:r>
          </a:p>
          <a:p>
            <a:pPr>
              <a:spcAft>
                <a:spcPts val="800"/>
              </a:spcAft>
              <a:defRPr sz="1250">
                <a:solidFill>
                  <a:srgbClr val="233135"/>
                </a:solidFill>
              </a:defRPr>
            </a:pPr>
            <a:r>
              <a:t>Department of Computer Science &amp; Engineering</a:t>
            </a:r>
          </a:p>
          <a:p>
            <a:pPr>
              <a:spcAft>
                <a:spcPts val="800"/>
              </a:spcAft>
              <a:defRPr sz="1250">
                <a:solidFill>
                  <a:srgbClr val="233135"/>
                </a:solidFill>
              </a:defRPr>
            </a:pPr>
            <a:r>
              <a:t>Academic Year: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190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C6F"/>
                </a:solidFill>
              </a:rPr>
              <a:t>Review-3 • Machine Learning •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63D"/>
                </a:solidFill>
              </a:rPr>
              <a:t>Review-3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C6F"/>
                </a:solidFill>
              </a:rPr>
              <a:t>Case scenario → practical EDA → algorithm demonstration →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C6F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074920" cy="164592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1645920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36776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363D"/>
                </a:solidFill>
              </a:rPr>
              <a:t>01  Case-Based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93976"/>
            <a:ext cx="4709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3135"/>
                </a:solidFill>
              </a:defRPr>
            </a:pPr>
            <a:r>
              <a:t>Translate the pollution problem into a realistic short-term AQI prediction use case.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074920" cy="164592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73152" cy="1645920"/>
          </a:xfrm>
          <a:prstGeom prst="rect">
            <a:avLst/>
          </a:prstGeom>
          <a:solidFill>
            <a:srgbClr val="54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36776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363D"/>
                </a:solidFill>
              </a:rPr>
              <a:t>02  Practical EDA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93976"/>
            <a:ext cx="4709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3135"/>
                </a:solidFill>
              </a:defRPr>
            </a:pPr>
            <a:r>
              <a:t>Execute Python-based dataset inspection, quality checks, distributions and correlations.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66160"/>
            <a:ext cx="5074920" cy="164592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566160"/>
            <a:ext cx="73152" cy="1645920"/>
          </a:xfrm>
          <a:prstGeom prst="rect">
            <a:avLst/>
          </a:prstGeom>
          <a:solidFill>
            <a:srgbClr val="CF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694176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363D"/>
                </a:solidFill>
              </a:rPr>
              <a:t>03  Algorithm Demonstration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151376"/>
            <a:ext cx="4709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3135"/>
                </a:solidFill>
              </a:defRPr>
            </a:pPr>
            <a:r>
              <a:t>Implement Ridge and Lasso Regression with standardized numerical predictors.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566160"/>
            <a:ext cx="5074920" cy="164592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566160"/>
            <a:ext cx="73152" cy="1645920"/>
          </a:xfrm>
          <a:prstGeom prst="rect">
            <a:avLst/>
          </a:prstGeom>
          <a:solidFill>
            <a:srgbClr val="B04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694176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363D"/>
                </a:solidFill>
              </a:rPr>
              <a:t>04 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151376"/>
            <a:ext cx="4709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3135"/>
                </a:solidFill>
              </a:defRPr>
            </a:pPr>
            <a:r>
              <a:t>Compare MAE, MSE, RMSE and R² using the actual dataset execution.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190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C6F"/>
                </a:solidFill>
              </a:rPr>
              <a:t>Review-3 • Machine Learning • CSE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63D"/>
                </a:solidFill>
              </a:rPr>
              <a:t>Case-Based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C6F"/>
                </a:solidFill>
              </a:rPr>
              <a:t>A concrete operational situation for short-term AQI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C6F"/>
                </a:solidFill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246120" cy="416052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160520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45336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63D"/>
                </a:solidFill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02536"/>
            <a:ext cx="2880360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33135"/>
                </a:solidFill>
              </a:defRPr>
            </a:pPr>
            <a:r>
              <a:t>A city monitoring team receives recent pollutant and environmental readings from monitoring stations.</a:t>
            </a:r>
          </a:p>
          <a:p>
            <a:pPr>
              <a:spcAft>
                <a:spcPts val="400"/>
              </a:spcAft>
              <a:defRPr sz="1500">
                <a:solidFill>
                  <a:srgbClr val="233135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33135"/>
                </a:solidFill>
              </a:defRPr>
            </a:pPr>
            <a:r>
              <a:t>The team needs a short-term AQI estimate to understand air-quality conditions and support timely monitoring.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1828800" cy="1234440"/>
          </a:xfrm>
          <a:prstGeom prst="roundRect">
            <a:avLst/>
          </a:prstGeom>
          <a:solidFill>
            <a:srgbClr val="E2F2EB"/>
          </a:solidFill>
          <a:ln>
            <a:solidFill>
              <a:srgbClr val="277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075688"/>
            <a:ext cx="1645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18363D"/>
                </a:solidFill>
              </a:rPr>
              <a:t>Station Data</a:t>
            </a:r>
          </a:p>
          <a:p>
            <a:pPr algn="ctr"/>
            <a:r>
              <a:rPr sz="1000">
                <a:solidFill>
                  <a:srgbClr val="5B6C6F"/>
                </a:solidFill>
              </a:rPr>
              <a:t>Pollutants + 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874519"/>
            <a:ext cx="1828800" cy="1234440"/>
          </a:xfrm>
          <a:prstGeom prst="roundRect">
            <a:avLst/>
          </a:prstGeom>
          <a:solidFill>
            <a:srgbClr val="E2F2EB"/>
          </a:solidFill>
          <a:ln>
            <a:solidFill>
              <a:srgbClr val="277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75688"/>
            <a:ext cx="1645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18363D"/>
                </a:solidFill>
              </a:rPr>
              <a:t>ML Prediction</a:t>
            </a:r>
          </a:p>
          <a:p>
            <a:pPr algn="ctr"/>
            <a:r>
              <a:rPr sz="1000">
                <a:solidFill>
                  <a:srgbClr val="5B6C6F"/>
                </a:solidFill>
              </a:rPr>
              <a:t>Ridge / Lasso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874519"/>
            <a:ext cx="1828800" cy="1234440"/>
          </a:xfrm>
          <a:prstGeom prst="roundRect">
            <a:avLst/>
          </a:prstGeom>
          <a:solidFill>
            <a:srgbClr val="E2F2EB"/>
          </a:solidFill>
          <a:ln>
            <a:solidFill>
              <a:srgbClr val="277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75688"/>
            <a:ext cx="1645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18363D"/>
                </a:solidFill>
              </a:rPr>
              <a:t>AQI Estimate</a:t>
            </a:r>
          </a:p>
          <a:p>
            <a:pPr algn="ctr"/>
            <a:r>
              <a:rPr sz="1000">
                <a:solidFill>
                  <a:srgbClr val="5B6C6F"/>
                </a:solidFill>
              </a:rPr>
              <a:t>Predicted AQI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657600"/>
            <a:ext cx="6309360" cy="132588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57600"/>
            <a:ext cx="73152" cy="1325880"/>
          </a:xfrm>
          <a:prstGeom prst="rect">
            <a:avLst/>
          </a:prstGeom>
          <a:solidFill>
            <a:srgbClr val="CF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785615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363D"/>
                </a:solidFill>
              </a:rPr>
              <a:t>Why this case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242816"/>
            <a:ext cx="59436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3135"/>
                </a:solidFill>
              </a:defRPr>
            </a:pPr>
            <a:r>
              <a:t>AQI depends on multiple variables. Regularized regression provides an interpretable baseline for learning how pollutant and environmental measurements relate to AQI.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190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C6F"/>
                </a:solidFill>
              </a:rPr>
              <a:t>Review-3 • Machine Learning • CSE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63D"/>
                </a:solidFill>
              </a:rPr>
              <a:t>Problem →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C6F"/>
                </a:solidFill>
              </a:rPr>
              <a:t>From raw measurements to an evaluated regression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C6F"/>
                </a:solidFill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383280" cy="425196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251960"/>
          </a:xfrm>
          <a:prstGeom prst="rect">
            <a:avLst/>
          </a:prstGeom>
          <a:solidFill>
            <a:srgbClr val="B04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4533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63D"/>
                </a:solidFill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02536"/>
            <a:ext cx="301752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• Increasing pollution affects health and ecosystems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• AQI is influenced by several pollutant/environmental parameters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• Multiple variables are difficult to interpret together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• A reproducible prediction pipeline is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83280" cy="425196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73152" cy="4251960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54533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63D"/>
                </a:solidFill>
              </a:rPr>
              <a:t>Proposed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02536"/>
            <a:ext cx="301752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• Load the Kaggle dataset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• Perform practical EDA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• Select AQI as target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• Split and standardize numerical predictors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• Train Ridge and Lasso models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• Evaluate on held-out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383280" cy="425196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73152" cy="4251960"/>
          </a:xfrm>
          <a:prstGeom prst="rect">
            <a:avLst/>
          </a:prstGeom>
          <a:solidFill>
            <a:srgbClr val="54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54533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63D"/>
                </a:solidFill>
              </a:rPr>
              <a:t>Actual Dataset Snapshot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002536"/>
            <a:ext cx="301752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Rows: 3,660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Columns: 13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Missing values: 0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Duplicate rows: 0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Numeric predictors: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190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C6F"/>
                </a:solidFill>
              </a:rPr>
              <a:t>Review-3 • Machine Learning • CSE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63D"/>
                </a:solidFill>
              </a:rPr>
              <a:t>Dataset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C6F"/>
                </a:solidFill>
              </a:rPr>
              <a:t>global_air_quality_dataset • Kaggle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C6F"/>
                </a:solidFill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794760" cy="452628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73152" cy="4526280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53895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63D"/>
                </a:solidFill>
              </a:rPr>
              <a:t>Actual Dataset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11095"/>
            <a:ext cx="342900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Rows: 3,660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Columns: 13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Target: AQI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Missing values: 0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Duplicate rows: 0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Date: object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City / Country: categorical text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AQI: int64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Other measurements: float64 / int64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325880"/>
            <a:ext cx="3246120" cy="452628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1325880"/>
            <a:ext cx="73152" cy="4526280"/>
          </a:xfrm>
          <a:prstGeom prst="rect">
            <a:avLst/>
          </a:prstGeom>
          <a:solidFill>
            <a:srgbClr val="54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0328" y="1453895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363D"/>
                </a:solidFill>
              </a:rPr>
              <a:t>Column Names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911095"/>
            <a:ext cx="288036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30">
                <a:solidFill>
                  <a:srgbClr val="233135"/>
                </a:solidFill>
              </a:defRPr>
            </a:pPr>
            <a:r>
              <a:t>• Date</a:t>
            </a:r>
          </a:p>
          <a:p>
            <a:pPr>
              <a:spcAft>
                <a:spcPts val="400"/>
              </a:spcAft>
              <a:defRPr sz="1130">
                <a:solidFill>
                  <a:srgbClr val="233135"/>
                </a:solidFill>
              </a:defRPr>
            </a:pPr>
            <a:r>
              <a:t>• City</a:t>
            </a:r>
          </a:p>
          <a:p>
            <a:pPr>
              <a:spcAft>
                <a:spcPts val="400"/>
              </a:spcAft>
              <a:defRPr sz="1130">
                <a:solidFill>
                  <a:srgbClr val="233135"/>
                </a:solidFill>
              </a:defRPr>
            </a:pPr>
            <a:r>
              <a:t>• Country</a:t>
            </a:r>
          </a:p>
          <a:p>
            <a:pPr>
              <a:spcAft>
                <a:spcPts val="400"/>
              </a:spcAft>
              <a:defRPr sz="1130">
                <a:solidFill>
                  <a:srgbClr val="233135"/>
                </a:solidFill>
              </a:defRPr>
            </a:pPr>
            <a:r>
              <a:t>• AQI</a:t>
            </a:r>
          </a:p>
          <a:p>
            <a:pPr>
              <a:spcAft>
                <a:spcPts val="400"/>
              </a:spcAft>
              <a:defRPr sz="1130">
                <a:solidFill>
                  <a:srgbClr val="233135"/>
                </a:solidFill>
              </a:defRPr>
            </a:pPr>
            <a:r>
              <a:t>• PM2.5 (µg/m³)</a:t>
            </a:r>
          </a:p>
          <a:p>
            <a:pPr>
              <a:spcAft>
                <a:spcPts val="400"/>
              </a:spcAft>
              <a:defRPr sz="1130">
                <a:solidFill>
                  <a:srgbClr val="233135"/>
                </a:solidFill>
              </a:defRPr>
            </a:pPr>
            <a:r>
              <a:t>• PM10 (µg/m³)</a:t>
            </a:r>
          </a:p>
          <a:p>
            <a:pPr>
              <a:spcAft>
                <a:spcPts val="400"/>
              </a:spcAft>
              <a:defRPr sz="1130">
                <a:solidFill>
                  <a:srgbClr val="233135"/>
                </a:solidFill>
              </a:defRPr>
            </a:pPr>
            <a:r>
              <a:t>• NO2 (ppb)</a:t>
            </a:r>
          </a:p>
          <a:p>
            <a:pPr>
              <a:spcAft>
                <a:spcPts val="400"/>
              </a:spcAft>
              <a:defRPr sz="1130">
                <a:solidFill>
                  <a:srgbClr val="233135"/>
                </a:solidFill>
              </a:defRPr>
            </a:pPr>
            <a:r>
              <a:t>• SO2 (ppb)</a:t>
            </a:r>
          </a:p>
          <a:p>
            <a:pPr>
              <a:spcAft>
                <a:spcPts val="400"/>
              </a:spcAft>
              <a:defRPr sz="1130">
                <a:solidFill>
                  <a:srgbClr val="233135"/>
                </a:solidFill>
              </a:defRPr>
            </a:pPr>
            <a:r>
              <a:t>• CO (ppm)</a:t>
            </a:r>
          </a:p>
          <a:p>
            <a:pPr>
              <a:spcAft>
                <a:spcPts val="400"/>
              </a:spcAft>
              <a:defRPr sz="1130">
                <a:solidFill>
                  <a:srgbClr val="233135"/>
                </a:solidFill>
              </a:defRPr>
            </a:pPr>
            <a:r>
              <a:t>• O3 (ppb)</a:t>
            </a:r>
          </a:p>
          <a:p>
            <a:pPr>
              <a:spcAft>
                <a:spcPts val="400"/>
              </a:spcAft>
              <a:defRPr sz="1130">
                <a:solidFill>
                  <a:srgbClr val="233135"/>
                </a:solidFill>
              </a:defRPr>
            </a:pPr>
            <a:r>
              <a:t>• Temperature (°C)</a:t>
            </a:r>
          </a:p>
          <a:p>
            <a:pPr>
              <a:spcAft>
                <a:spcPts val="400"/>
              </a:spcAft>
              <a:defRPr sz="1130">
                <a:solidFill>
                  <a:srgbClr val="233135"/>
                </a:solidFill>
              </a:defRPr>
            </a:pPr>
            <a:r>
              <a:t>• Humidity (%)</a:t>
            </a:r>
          </a:p>
          <a:p>
            <a:pPr>
              <a:spcAft>
                <a:spcPts val="400"/>
              </a:spcAft>
              <a:defRPr sz="1130">
                <a:solidFill>
                  <a:srgbClr val="233135"/>
                </a:solidFill>
              </a:defRPr>
            </a:pPr>
            <a:r>
              <a:t>• Wind Speed (m/s)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325880"/>
            <a:ext cx="3337560" cy="452628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325880"/>
            <a:ext cx="73152" cy="4526280"/>
          </a:xfrm>
          <a:prstGeom prst="rect">
            <a:avLst/>
          </a:prstGeom>
          <a:solidFill>
            <a:srgbClr val="CF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453895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363D"/>
                </a:solidFill>
              </a:rPr>
              <a:t>Model Predictors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911095"/>
            <a:ext cx="297180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3135"/>
                </a:solidFill>
              </a:defRPr>
            </a:pPr>
            <a:r>
              <a:t>• PM2.5 (µg/m³)</a:t>
            </a:r>
          </a:p>
          <a:p>
            <a:pPr>
              <a:spcAft>
                <a:spcPts val="400"/>
              </a:spcAft>
              <a:defRPr sz="1150">
                <a:solidFill>
                  <a:srgbClr val="233135"/>
                </a:solidFill>
              </a:defRPr>
            </a:pPr>
            <a:r>
              <a:t>• PM10 (µg/m³)</a:t>
            </a:r>
          </a:p>
          <a:p>
            <a:pPr>
              <a:spcAft>
                <a:spcPts val="400"/>
              </a:spcAft>
              <a:defRPr sz="1150">
                <a:solidFill>
                  <a:srgbClr val="233135"/>
                </a:solidFill>
              </a:defRPr>
            </a:pPr>
            <a:r>
              <a:t>• NO2 (ppb)</a:t>
            </a:r>
          </a:p>
          <a:p>
            <a:pPr>
              <a:spcAft>
                <a:spcPts val="400"/>
              </a:spcAft>
              <a:defRPr sz="1150">
                <a:solidFill>
                  <a:srgbClr val="233135"/>
                </a:solidFill>
              </a:defRPr>
            </a:pPr>
            <a:r>
              <a:t>• SO2 (ppb)</a:t>
            </a:r>
          </a:p>
          <a:p>
            <a:pPr>
              <a:spcAft>
                <a:spcPts val="400"/>
              </a:spcAft>
              <a:defRPr sz="1150">
                <a:solidFill>
                  <a:srgbClr val="233135"/>
                </a:solidFill>
              </a:defRPr>
            </a:pPr>
            <a:r>
              <a:t>• CO (ppm)</a:t>
            </a:r>
          </a:p>
          <a:p>
            <a:pPr>
              <a:spcAft>
                <a:spcPts val="400"/>
              </a:spcAft>
              <a:defRPr sz="1150">
                <a:solidFill>
                  <a:srgbClr val="233135"/>
                </a:solidFill>
              </a:defRPr>
            </a:pPr>
            <a:r>
              <a:t>• O3 (ppb)</a:t>
            </a:r>
          </a:p>
          <a:p>
            <a:pPr>
              <a:spcAft>
                <a:spcPts val="400"/>
              </a:spcAft>
              <a:defRPr sz="1150">
                <a:solidFill>
                  <a:srgbClr val="233135"/>
                </a:solidFill>
              </a:defRPr>
            </a:pPr>
            <a:r>
              <a:t>• Temperature (°C)</a:t>
            </a:r>
          </a:p>
          <a:p>
            <a:pPr>
              <a:spcAft>
                <a:spcPts val="400"/>
              </a:spcAft>
              <a:defRPr sz="1150">
                <a:solidFill>
                  <a:srgbClr val="233135"/>
                </a:solidFill>
              </a:defRPr>
            </a:pPr>
            <a:r>
              <a:t>• Humidity (%)</a:t>
            </a:r>
          </a:p>
          <a:p>
            <a:pPr>
              <a:spcAft>
                <a:spcPts val="400"/>
              </a:spcAft>
              <a:defRPr sz="1150">
                <a:solidFill>
                  <a:srgbClr val="233135"/>
                </a:solidFill>
              </a:defRPr>
            </a:pPr>
            <a:r>
              <a:t>• Wind Speed (m/s)</a:t>
            </a:r>
          </a:p>
          <a:p>
            <a:pPr>
              <a:spcAft>
                <a:spcPts val="400"/>
              </a:spcAft>
              <a:defRPr sz="1150">
                <a:solidFill>
                  <a:srgbClr val="233135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233135"/>
                </a:solidFill>
              </a:defRPr>
            </a:pPr>
            <a:r>
              <a:t>Baseline uses numerical predictors only; Date/City/Country remain available for EDA/context.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190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C6F"/>
                </a:solidFill>
              </a:rPr>
              <a:t>Review-3 • Machine Learning • CSE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63D"/>
                </a:solidFill>
              </a:rPr>
              <a:t>EDA –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C6F"/>
                </a:solidFill>
              </a:rPr>
              <a:t>Actual inspection results from the uploaded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C6F"/>
                </a:solidFill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468880" cy="132588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73152" cy="1325880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53895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363D"/>
                </a:solidFill>
              </a:rPr>
              <a:t>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11095"/>
            <a:ext cx="210312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33135"/>
                </a:solidFill>
              </a:defRPr>
            </a:pPr>
            <a:r>
              <a:t>3,660</a:t>
            </a:r>
          </a:p>
          <a:p>
            <a:pPr>
              <a:spcAft>
                <a:spcPts val="400"/>
              </a:spcAft>
              <a:defRPr sz="1700">
                <a:solidFill>
                  <a:srgbClr val="233135"/>
                </a:solidFill>
              </a:defRPr>
            </a:pPr>
            <a:r>
              <a:t>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25880"/>
            <a:ext cx="2468880" cy="132588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325880"/>
            <a:ext cx="73152" cy="1325880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1453895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363D"/>
                </a:solidFill>
              </a:rPr>
              <a:t>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911095"/>
            <a:ext cx="210312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33135"/>
                </a:solidFill>
              </a:defRPr>
            </a:pPr>
            <a:r>
              <a:t>13</a:t>
            </a:r>
          </a:p>
          <a:p>
            <a:pPr>
              <a:spcAft>
                <a:spcPts val="400"/>
              </a:spcAft>
              <a:defRPr sz="1700">
                <a:solidFill>
                  <a:srgbClr val="233135"/>
                </a:solidFill>
              </a:defRPr>
            </a:pPr>
            <a:r>
              <a:t>variables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25880"/>
            <a:ext cx="2468880" cy="132588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25880"/>
            <a:ext cx="73152" cy="1325880"/>
          </a:xfrm>
          <a:prstGeom prst="rect">
            <a:avLst/>
          </a:prstGeom>
          <a:solidFill>
            <a:srgbClr val="54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453895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363D"/>
                </a:solidFill>
              </a:rPr>
              <a:t>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911095"/>
            <a:ext cx="210312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33135"/>
                </a:solidFill>
              </a:defRPr>
            </a:pPr>
            <a:r>
              <a:t>0</a:t>
            </a:r>
          </a:p>
          <a:p>
            <a:pPr>
              <a:spcAft>
                <a:spcPts val="400"/>
              </a:spcAft>
              <a:defRPr sz="1700">
                <a:solidFill>
                  <a:srgbClr val="233135"/>
                </a:solidFill>
              </a:defRPr>
            </a:pPr>
            <a:r>
              <a:t>cells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325880"/>
            <a:ext cx="2468880" cy="132588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39" y="1325880"/>
            <a:ext cx="73152" cy="1325880"/>
          </a:xfrm>
          <a:prstGeom prst="rect">
            <a:avLst/>
          </a:prstGeom>
          <a:solidFill>
            <a:srgbClr val="54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7" y="1453895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363D"/>
                </a:solidFill>
              </a:rPr>
              <a:t>Duplicates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7" y="1911095"/>
            <a:ext cx="210312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33135"/>
                </a:solidFill>
              </a:defRPr>
            </a:pPr>
            <a:r>
              <a:t>0</a:t>
            </a:r>
          </a:p>
          <a:p>
            <a:pPr>
              <a:spcAft>
                <a:spcPts val="400"/>
              </a:spcAft>
              <a:defRPr sz="1700">
                <a:solidFill>
                  <a:srgbClr val="233135"/>
                </a:solidFill>
              </a:defRPr>
            </a:pPr>
            <a:r>
              <a:t>rows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971800"/>
            <a:ext cx="5212080" cy="2423160"/>
          </a:xfrm>
          <a:prstGeom prst="roundRect">
            <a:avLst/>
          </a:prstGeom>
          <a:solidFill>
            <a:srgbClr val="1C272A"/>
          </a:solidFill>
          <a:ln>
            <a:solidFill>
              <a:srgbClr val="415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3081528"/>
            <a:ext cx="4892040" cy="2240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E0EFEB"/>
                </a:solidFill>
                <a:latin typeface="Consolas"/>
              </a:rPr>
              <a:t>print(df.head())
print(df.shape)
print(df.columns.tolist())
df.info()
print(df.isna().sum())
print("Duplicates:", df.duplicated().sum())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2971800"/>
            <a:ext cx="5303520" cy="242316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2971800"/>
            <a:ext cx="73152" cy="2423160"/>
          </a:xfrm>
          <a:prstGeom prst="rect">
            <a:avLst/>
          </a:prstGeom>
          <a:solidFill>
            <a:srgbClr val="54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099816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363D"/>
                </a:solidFill>
              </a:rPr>
              <a:t>Data Quality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557016"/>
            <a:ext cx="4937759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3135"/>
                </a:solidFill>
              </a:defRPr>
            </a:pPr>
            <a:r>
              <a:t>All 13 columns are populated in the uploaded dataset.</a:t>
            </a:r>
          </a:p>
          <a:p>
            <a:pPr>
              <a:spcAft>
                <a:spcPts val="400"/>
              </a:spcAft>
              <a:defRPr sz="1300">
                <a:solidFill>
                  <a:srgbClr val="233135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3135"/>
                </a:solidFill>
              </a:defRPr>
            </a:pPr>
            <a:r>
              <a:t>No missing cells were detected and no duplicate rows were detected.</a:t>
            </a:r>
          </a:p>
          <a:p>
            <a:pPr>
              <a:spcAft>
                <a:spcPts val="400"/>
              </a:spcAft>
              <a:defRPr sz="1300">
                <a:solidFill>
                  <a:srgbClr val="233135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3135"/>
                </a:solidFill>
              </a:defRPr>
            </a:pPr>
            <a:r>
              <a:t>The model code retains a median imputer for robustness.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190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C6F"/>
                </a:solidFill>
              </a:rPr>
              <a:t>Review-3 • Machine Learning • CSE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63D"/>
                </a:solidFill>
              </a:rPr>
              <a:t>EDA – Practical Python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C6F"/>
                </a:solidFill>
              </a:rPr>
              <a:t>Core code used to inspect the actual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C6F"/>
                </a:solidFill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486400" cy="4526280"/>
          </a:xfrm>
          <a:prstGeom prst="roundRect">
            <a:avLst/>
          </a:prstGeom>
          <a:solidFill>
            <a:srgbClr val="1C272A"/>
          </a:solidFill>
          <a:ln>
            <a:solidFill>
              <a:srgbClr val="415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35607"/>
            <a:ext cx="5166360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E0EFEB"/>
                </a:solidFill>
                <a:latin typeface="Consolas"/>
              </a:rPr>
              <a:t>df = pd.read_csv("global_air_quality_dataset.csv")
print(df.head())
print("Shape:", df.shape)
print("Columns:", df.columns.tolist())
df.info()
print(df.isna().sum())
print("Duplicate rows:", df.duplicated().sum())
print(df.describe(include="all").T)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349240" cy="4526280"/>
          </a:xfrm>
          <a:prstGeom prst="roundRect">
            <a:avLst/>
          </a:prstGeom>
          <a:solidFill>
            <a:srgbClr val="1C272A"/>
          </a:solidFill>
          <a:ln>
            <a:solidFill>
              <a:srgbClr val="415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435607"/>
            <a:ext cx="5029200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E0EFEB"/>
                </a:solidFill>
                <a:latin typeface="Consolas"/>
              </a:rPr>
              <a:t># Numerical distributions
num_cols = df.select_dtypes(include=np.number).columns
for col in num_cols:
    df[col].hist(bins=30)
    plt.title(f"Distribution: {col}")
    plt.show()
# AQI distribution
df["AQI"].hist(bins=30)
plt.title("AQI Distribution")
plt.show()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190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C6F"/>
                </a:solidFill>
              </a:rPr>
              <a:t>Review-3 • Machine Learning • CSE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63D"/>
                </a:solidFill>
              </a:rPr>
              <a:t>EDA – Visualizations &amp; Correlation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C6F"/>
                </a:solidFill>
              </a:rPr>
              <a:t>Actual visual evidence from the uploaded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C6F"/>
                </a:solidFill>
              </a:rPr>
              <a:t>8</a:t>
            </a:r>
          </a:p>
        </p:txBody>
      </p:sp>
      <p:pic>
        <p:nvPicPr>
          <p:cNvPr id="7" name="Picture 6" descr="aqi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3520440" cy="1980248"/>
          </a:xfrm>
          <a:prstGeom prst="rect">
            <a:avLst/>
          </a:prstGeom>
        </p:spPr>
      </p:pic>
      <p:pic>
        <p:nvPicPr>
          <p:cNvPr id="8" name="Picture 7" descr="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25880"/>
            <a:ext cx="3977639" cy="265175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325880"/>
            <a:ext cx="3429000" cy="196596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325880"/>
            <a:ext cx="73152" cy="1965960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8" y="1453895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63D"/>
                </a:solidFill>
              </a:rPr>
              <a:t>Strongest AQI 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911095"/>
            <a:ext cx="306324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3135"/>
                </a:solidFill>
              </a:defRPr>
            </a:pPr>
            <a:r>
              <a:t>• PM10 (µg/m³): r = 0.031</a:t>
            </a:r>
          </a:p>
          <a:p>
            <a:pPr>
              <a:spcAft>
                <a:spcPts val="400"/>
              </a:spcAft>
              <a:defRPr sz="1150">
                <a:solidFill>
                  <a:srgbClr val="233135"/>
                </a:solidFill>
              </a:defRPr>
            </a:pPr>
            <a:r>
              <a:t>• SO2 (ppb): r = -0.025</a:t>
            </a:r>
          </a:p>
          <a:p>
            <a:pPr>
              <a:spcAft>
                <a:spcPts val="400"/>
              </a:spcAft>
              <a:defRPr sz="1150">
                <a:solidFill>
                  <a:srgbClr val="233135"/>
                </a:solidFill>
              </a:defRPr>
            </a:pPr>
            <a:r>
              <a:t>• Temperature (°C): r = -0.017</a:t>
            </a:r>
          </a:p>
          <a:p>
            <a:pPr>
              <a:spcAft>
                <a:spcPts val="400"/>
              </a:spcAft>
              <a:defRPr sz="1150">
                <a:solidFill>
                  <a:srgbClr val="233135"/>
                </a:solidFill>
              </a:defRPr>
            </a:pPr>
            <a:r>
              <a:t>• O3 (ppb): r = -0.015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3520440"/>
            <a:ext cx="3429000" cy="205740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3520440"/>
            <a:ext cx="73152" cy="2057400"/>
          </a:xfrm>
          <a:prstGeom prst="rect">
            <a:avLst/>
          </a:prstGeom>
          <a:solidFill>
            <a:srgbClr val="54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3648456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63D"/>
                </a:solidFill>
              </a:rPr>
              <a:t>Pollutant / AQI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4105656"/>
            <a:ext cx="306324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33135"/>
                </a:solidFill>
              </a:defRPr>
            </a:pPr>
            <a:r>
              <a:t>Scatter plot shown below for:</a:t>
            </a:r>
          </a:p>
          <a:p>
            <a:pPr>
              <a:spcAft>
                <a:spcPts val="400"/>
              </a:spcAft>
              <a:defRPr sz="1200">
                <a:solidFill>
                  <a:srgbClr val="233135"/>
                </a:solidFill>
              </a:defRPr>
            </a:pPr>
            <a:r>
              <a:t>PM10 (µg/m³) vs AQI</a:t>
            </a:r>
          </a:p>
          <a:p>
            <a:pPr>
              <a:spcAft>
                <a:spcPts val="400"/>
              </a:spcAft>
              <a:defRPr sz="1200">
                <a:solidFill>
                  <a:srgbClr val="233135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33135"/>
                </a:solidFill>
              </a:defRPr>
            </a:pPr>
            <a:r>
              <a:t>Pearson correlation: 0.031</a:t>
            </a:r>
          </a:p>
        </p:txBody>
      </p:sp>
      <p:pic>
        <p:nvPicPr>
          <p:cNvPr id="17" name="Picture 16" descr="top_relations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572000"/>
            <a:ext cx="3383280" cy="2174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64190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C6F"/>
                </a:solidFill>
              </a:rPr>
              <a:t>Review-3 • Machine Learning • CSE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63D"/>
                </a:solidFill>
              </a:rPr>
              <a:t>Ridge Regression – Concept +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C6F"/>
                </a:solidFill>
              </a:rPr>
              <a:t>L2 regularization controls coefficient magnitude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C6F"/>
                </a:solidFill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383280" cy="443484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73152" cy="4434840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53895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63D"/>
                </a:solidFill>
              </a:rPr>
              <a:t>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11095"/>
            <a:ext cx="3017520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Ridge adds an L2 penalty to least squares.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It discourages very large coefficients and can improve stability when predictors are correlated.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It provides a regularized multi-variable baseline for AQI prediction.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25880"/>
            <a:ext cx="2926080" cy="443484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25880"/>
            <a:ext cx="73152" cy="4434840"/>
          </a:xfrm>
          <a:prstGeom prst="rect">
            <a:avLst/>
          </a:prstGeom>
          <a:solidFill>
            <a:srgbClr val="CF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453895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63D"/>
                </a:solidFill>
              </a:rPr>
              <a:t>Key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11095"/>
            <a:ext cx="2560320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Objective: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minimize  ||y − Xβ||² + α||β||²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α controls regularization strength.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Project setting: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α = 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325880"/>
            <a:ext cx="4160520" cy="4434840"/>
          </a:xfrm>
          <a:prstGeom prst="roundRect">
            <a:avLst/>
          </a:prstGeom>
          <a:solidFill>
            <a:srgbClr val="1C272A"/>
          </a:solidFill>
          <a:ln>
            <a:solidFill>
              <a:srgbClr val="415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1" y="1435607"/>
            <a:ext cx="3840480" cy="4251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E0EFEB"/>
                </a:solidFill>
                <a:latin typeface="Consolas"/>
              </a:rPr>
              <a:t>ridge = Pipeline([
 ("imputer", SimpleImputer(strategy="median")),
 ("scaler", StandardScaler()),
 ("model", Ridge(alpha=1.0))
])
ridge.fit(X_train, y_train)
ridge_pred = ridge.predict(X_test)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190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C6F"/>
                </a:solidFill>
              </a:rPr>
              <a:t>Review-3 • Machine Learning • CSE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63D"/>
                </a:solidFill>
              </a:rPr>
              <a:t>Lasso Regression – Concept +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C6F"/>
                </a:solidFill>
              </a:rPr>
              <a:t>L1 regularization can shrink some coefficients to 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C6F"/>
                </a:solidFill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383280" cy="443484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73152" cy="4434840"/>
          </a:xfrm>
          <a:prstGeom prst="rect">
            <a:avLst/>
          </a:prstGeom>
          <a:solidFill>
            <a:srgbClr val="54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53895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63D"/>
                </a:solidFill>
              </a:rPr>
              <a:t>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11095"/>
            <a:ext cx="3017520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Lasso adds an L1 penalty to least squares.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The penalty encourages sparse coefficients, so some features may receive zero weight.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This supports feature selection and model simplification.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25880"/>
            <a:ext cx="2926080" cy="443484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25880"/>
            <a:ext cx="73152" cy="4434840"/>
          </a:xfrm>
          <a:prstGeom prst="rect">
            <a:avLst/>
          </a:prstGeom>
          <a:solidFill>
            <a:srgbClr val="CF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453895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63D"/>
                </a:solidFill>
              </a:rPr>
              <a:t>Key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11095"/>
            <a:ext cx="2560320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Objective: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minimize  ||y − Xβ||² + α||β||₁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α controls regularization strength.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Project setting:</a:t>
            </a:r>
          </a:p>
          <a:p>
            <a:pPr>
              <a:spcAft>
                <a:spcPts val="400"/>
              </a:spcAft>
              <a:defRPr sz="1400">
                <a:solidFill>
                  <a:srgbClr val="233135"/>
                </a:solidFill>
              </a:defRPr>
            </a:pPr>
            <a:r>
              <a:t>α = 0.1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325880"/>
            <a:ext cx="4160520" cy="4434840"/>
          </a:xfrm>
          <a:prstGeom prst="roundRect">
            <a:avLst/>
          </a:prstGeom>
          <a:solidFill>
            <a:srgbClr val="1C272A"/>
          </a:solidFill>
          <a:ln>
            <a:solidFill>
              <a:srgbClr val="415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1" y="1435607"/>
            <a:ext cx="3840480" cy="4251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E0EFEB"/>
                </a:solidFill>
                <a:latin typeface="Consolas"/>
              </a:rPr>
              <a:t>lasso = Pipeline([
 ("imputer", SimpleImputer(strategy="median")),
 ("scaler", StandardScaler()),
 ("model", Lasso(alpha=0.1, max_iter=10000))
])
lasso.fit(X_train, y_train)
lasso_pred = lasso.predict(X_test)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190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C6F"/>
                </a:solidFill>
              </a:rPr>
              <a:t>Review-3 • Machine Learning • CSE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63D"/>
                </a:solidFill>
              </a:rPr>
              <a:t>Model Evaluation &amp;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C6F"/>
                </a:solidFill>
              </a:rPr>
              <a:t>Actual results from an 80/20 train-test split (random_state=42)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C6F"/>
                </a:solidFill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2743200" cy="594360"/>
          </a:xfrm>
          <a:prstGeom prst="rect">
            <a:avLst/>
          </a:prstGeom>
          <a:solidFill>
            <a:srgbClr val="1836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17320"/>
            <a:ext cx="1600200" cy="594360"/>
          </a:xfrm>
          <a:prstGeom prst="rect">
            <a:avLst/>
          </a:prstGeom>
          <a:solidFill>
            <a:srgbClr val="1836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3619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417320"/>
            <a:ext cx="1600200" cy="594360"/>
          </a:xfrm>
          <a:prstGeom prst="rect">
            <a:avLst/>
          </a:prstGeom>
          <a:solidFill>
            <a:srgbClr val="1836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9" y="153619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417320"/>
            <a:ext cx="1600200" cy="594360"/>
          </a:xfrm>
          <a:prstGeom prst="rect">
            <a:avLst/>
          </a:prstGeom>
          <a:solidFill>
            <a:srgbClr val="1836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153619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1600200" cy="594360"/>
          </a:xfrm>
          <a:prstGeom prst="rect">
            <a:avLst/>
          </a:prstGeom>
          <a:solidFill>
            <a:srgbClr val="1836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3619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011680"/>
            <a:ext cx="2743200" cy="658368"/>
          </a:xfrm>
          <a:prstGeom prst="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16712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3135"/>
                </a:solidFill>
              </a:rPr>
              <a:t>Ridge Regression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2011680"/>
            <a:ext cx="1600200" cy="658368"/>
          </a:xfrm>
          <a:prstGeom prst="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1671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3135"/>
                </a:solidFill>
              </a:rPr>
              <a:t>69.6459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011680"/>
            <a:ext cx="1600200" cy="658368"/>
          </a:xfrm>
          <a:prstGeom prst="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59" y="21671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3135"/>
                </a:solidFill>
              </a:rPr>
              <a:t>6346.9878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2011680"/>
            <a:ext cx="1600200" cy="658368"/>
          </a:xfrm>
          <a:prstGeom prst="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59" y="21671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3135"/>
                </a:solidFill>
              </a:rPr>
              <a:t>79.6680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2011680"/>
            <a:ext cx="1600200" cy="658368"/>
          </a:xfrm>
          <a:prstGeom prst="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1671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3135"/>
                </a:solidFill>
              </a:rPr>
              <a:t>-0.0001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670048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825496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3135"/>
                </a:solidFill>
              </a:rPr>
              <a:t>Lasso Regression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2670048"/>
            <a:ext cx="1600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25496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3135"/>
                </a:solidFill>
              </a:rPr>
              <a:t>69.6351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2670048"/>
            <a:ext cx="1600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66359" y="2825496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3135"/>
                </a:solidFill>
              </a:rPr>
              <a:t>6344.9692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670048"/>
            <a:ext cx="1600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59" y="2825496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3135"/>
                </a:solidFill>
              </a:rPr>
              <a:t>79.6553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670048"/>
            <a:ext cx="1600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2825496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3135"/>
                </a:solidFill>
              </a:rPr>
              <a:t>0.0002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3063240"/>
            <a:ext cx="5074920" cy="228600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" y="3063240"/>
            <a:ext cx="73152" cy="2286000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" y="3191256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363D"/>
                </a:solidFill>
              </a:rPr>
              <a:t>Evaluation meaning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3648456"/>
            <a:ext cx="4709159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3135"/>
                </a:solidFill>
              </a:defRPr>
            </a:pPr>
            <a:r>
              <a:t>MAE: average absolute prediction error</a:t>
            </a:r>
          </a:p>
          <a:p>
            <a:pPr>
              <a:spcAft>
                <a:spcPts val="400"/>
              </a:spcAft>
              <a:defRPr sz="1250">
                <a:solidFill>
                  <a:srgbClr val="233135"/>
                </a:solidFill>
              </a:defRPr>
            </a:pPr>
            <a:r>
              <a:t>MSE: squared-error measure</a:t>
            </a:r>
          </a:p>
          <a:p>
            <a:pPr>
              <a:spcAft>
                <a:spcPts val="400"/>
              </a:spcAft>
              <a:defRPr sz="1250">
                <a:solidFill>
                  <a:srgbClr val="233135"/>
                </a:solidFill>
              </a:defRPr>
            </a:pPr>
            <a:r>
              <a:t>RMSE: error in target scale</a:t>
            </a:r>
          </a:p>
          <a:p>
            <a:pPr>
              <a:spcAft>
                <a:spcPts val="400"/>
              </a:spcAft>
              <a:defRPr sz="1250">
                <a:solidFill>
                  <a:srgbClr val="233135"/>
                </a:solidFill>
              </a:defRPr>
            </a:pPr>
            <a:r>
              <a:t>R²: proportion of target variance explained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3063240"/>
            <a:ext cx="5120640" cy="228600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3063240"/>
            <a:ext cx="73152" cy="2286000"/>
          </a:xfrm>
          <a:prstGeom prst="rect">
            <a:avLst/>
          </a:prstGeom>
          <a:solidFill>
            <a:srgbClr val="54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368" y="3191256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363D"/>
                </a:solidFill>
              </a:rPr>
              <a:t>Experiment settings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3368" y="3648456"/>
            <a:ext cx="4754879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3135"/>
                </a:solidFill>
              </a:defRPr>
            </a:pPr>
            <a:r>
              <a:t>Dataset: 3,660 rows × 13 columns</a:t>
            </a:r>
          </a:p>
          <a:p>
            <a:pPr>
              <a:spcAft>
                <a:spcPts val="400"/>
              </a:spcAft>
              <a:defRPr sz="1250">
                <a:solidFill>
                  <a:srgbClr val="233135"/>
                </a:solidFill>
              </a:defRPr>
            </a:pPr>
            <a:r>
              <a:t>Predictors: 9 numerical features</a:t>
            </a:r>
          </a:p>
          <a:p>
            <a:pPr>
              <a:spcAft>
                <a:spcPts val="400"/>
              </a:spcAft>
              <a:defRPr sz="1250">
                <a:solidFill>
                  <a:srgbClr val="233135"/>
                </a:solidFill>
              </a:defRPr>
            </a:pPr>
            <a:r>
              <a:t>Split: 80% train / 20% test</a:t>
            </a:r>
          </a:p>
          <a:p>
            <a:pPr>
              <a:spcAft>
                <a:spcPts val="400"/>
              </a:spcAft>
              <a:defRPr sz="1250">
                <a:solidFill>
                  <a:srgbClr val="233135"/>
                </a:solidFill>
              </a:defRPr>
            </a:pPr>
            <a:r>
              <a:t>Ridge α: 1.0 • Lasso α: 0.1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4190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C6F"/>
                </a:solidFill>
              </a:rPr>
              <a:t>Review-3 • Machine Learning • CSE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63D"/>
                </a:solidFill>
              </a:rPr>
              <a:t>Overall Workflow /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C6F"/>
                </a:solidFill>
              </a:rPr>
              <a:t>End-to-end pipeline used in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C6F"/>
                </a:solidFill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48840"/>
            <a:ext cx="1572768" cy="1371600"/>
          </a:xfrm>
          <a:prstGeom prst="roundRect">
            <a:avLst/>
          </a:prstGeom>
          <a:solidFill>
            <a:srgbClr val="E2F2EB"/>
          </a:solidFill>
          <a:ln>
            <a:solidFill>
              <a:srgbClr val="277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2377440"/>
            <a:ext cx="142646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8363D"/>
                </a:solidFill>
              </a:rPr>
              <a:t>Dataset</a:t>
            </a:r>
          </a:p>
          <a:p>
            <a:pPr algn="ctr"/>
            <a:r>
              <a:rPr sz="880">
                <a:solidFill>
                  <a:srgbClr val="5B6C6F"/>
                </a:solidFill>
              </a:rPr>
              <a:t>3,660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0008" y="2148840"/>
            <a:ext cx="1572768" cy="1371600"/>
          </a:xfrm>
          <a:prstGeom prst="roundRect">
            <a:avLst/>
          </a:prstGeom>
          <a:solidFill>
            <a:srgbClr val="F5F9F7"/>
          </a:solidFill>
          <a:ln>
            <a:solidFill>
              <a:srgbClr val="277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2377440"/>
            <a:ext cx="142646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8363D"/>
                </a:solidFill>
              </a:rPr>
              <a:t>EDA</a:t>
            </a:r>
          </a:p>
          <a:p>
            <a:pPr algn="ctr"/>
            <a:r>
              <a:rPr sz="880">
                <a:solidFill>
                  <a:srgbClr val="5B6C6F"/>
                </a:solidFill>
              </a:rPr>
              <a:t>Inspect • clean • visualize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148840"/>
            <a:ext cx="1572768" cy="1371600"/>
          </a:xfrm>
          <a:prstGeom prst="roundRect">
            <a:avLst/>
          </a:prstGeom>
          <a:solidFill>
            <a:srgbClr val="F5F9F7"/>
          </a:solidFill>
          <a:ln>
            <a:solidFill>
              <a:srgbClr val="277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377440"/>
            <a:ext cx="142646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8363D"/>
                </a:solidFill>
              </a:rPr>
              <a:t>Preprocessing</a:t>
            </a:r>
          </a:p>
          <a:p>
            <a:pPr algn="ctr"/>
            <a:r>
              <a:rPr sz="880">
                <a:solidFill>
                  <a:srgbClr val="5B6C6F"/>
                </a:solidFill>
              </a:rPr>
              <a:t>Select • split •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148840"/>
            <a:ext cx="1572768" cy="1371600"/>
          </a:xfrm>
          <a:prstGeom prst="roundRect">
            <a:avLst/>
          </a:prstGeom>
          <a:solidFill>
            <a:srgbClr val="F5F9F7"/>
          </a:solidFill>
          <a:ln>
            <a:solidFill>
              <a:srgbClr val="277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2377440"/>
            <a:ext cx="142646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8363D"/>
                </a:solidFill>
              </a:rPr>
              <a:t>Models</a:t>
            </a:r>
          </a:p>
          <a:p>
            <a:pPr algn="ctr"/>
            <a:r>
              <a:rPr sz="880">
                <a:solidFill>
                  <a:srgbClr val="5B6C6F"/>
                </a:solidFill>
              </a:rPr>
              <a:t>Ridge + Lasso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5592" y="2148840"/>
            <a:ext cx="1572768" cy="1371600"/>
          </a:xfrm>
          <a:prstGeom prst="roundRect">
            <a:avLst/>
          </a:prstGeom>
          <a:solidFill>
            <a:srgbClr val="F5F9F7"/>
          </a:solidFill>
          <a:ln>
            <a:solidFill>
              <a:srgbClr val="277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142646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8363D"/>
                </a:solidFill>
              </a:rPr>
              <a:t>Evaluation</a:t>
            </a:r>
          </a:p>
          <a:p>
            <a:pPr algn="ctr"/>
            <a:r>
              <a:rPr sz="880">
                <a:solidFill>
                  <a:srgbClr val="5B6C6F"/>
                </a:solidFill>
              </a:rPr>
              <a:t>MAE • MSE • RMSE • R²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2148840"/>
            <a:ext cx="1572768" cy="1371600"/>
          </a:xfrm>
          <a:prstGeom prst="roundRect">
            <a:avLst/>
          </a:prstGeom>
          <a:solidFill>
            <a:srgbClr val="E2F2EB"/>
          </a:solidFill>
          <a:ln>
            <a:solidFill>
              <a:srgbClr val="277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77272" y="2377440"/>
            <a:ext cx="142646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8363D"/>
                </a:solidFill>
              </a:rPr>
              <a:t>Prediction</a:t>
            </a:r>
          </a:p>
          <a:p>
            <a:pPr algn="ctr"/>
            <a:r>
              <a:rPr sz="880">
                <a:solidFill>
                  <a:srgbClr val="5B6C6F"/>
                </a:solidFill>
              </a:rPr>
              <a:t>AQI estimate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160520"/>
            <a:ext cx="8412480" cy="105156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4160520"/>
            <a:ext cx="73152" cy="1051560"/>
          </a:xfrm>
          <a:prstGeom prst="rect">
            <a:avLst/>
          </a:prstGeom>
          <a:solidFill>
            <a:srgbClr val="CF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29968" y="4288536"/>
            <a:ext cx="8046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63D"/>
                </a:solidFill>
              </a:rPr>
              <a:t>Design principle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8" y="4745736"/>
            <a:ext cx="8046719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3135"/>
                </a:solidFill>
              </a:defRPr>
            </a:pPr>
            <a:r>
              <a:t>Fit preprocessing only on training data, then apply the fitted transformation to test/new observations to avoid data leakage.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190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C6F"/>
                </a:solidFill>
              </a:rPr>
              <a:t>Review-3 • Machine Learning • CSE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63D"/>
                </a:solidFill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C6F"/>
                </a:solidFill>
              </a:rPr>
              <a:t>Review-3 outcomes based on actual dataset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C6F"/>
                </a:solidFill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212080" cy="438912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27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99616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63D"/>
                </a:solidFill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56816"/>
            <a:ext cx="4846320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• Dataset contains 3,660 rows and 13 columns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• No missing cells or duplicate rows were found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• EDA quantified pollutant/environmental relationships with AQI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• Ridge and Lasso were implemented with standardized predictors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• MAE, MSE, RMSE and R² were calculated on held-out data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• The pipeline is reproducible and ready for further tuning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212080" cy="4389120"/>
          </a:xfrm>
          <a:prstGeom prst="roundRect">
            <a:avLst/>
          </a:prstGeom>
          <a:solidFill>
            <a:srgbClr val="F5F9F7"/>
          </a:solidFill>
          <a:ln>
            <a:solidFill>
              <a:srgbClr val="EB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73152" cy="4389120"/>
          </a:xfrm>
          <a:prstGeom prst="rect">
            <a:avLst/>
          </a:prstGeom>
          <a:solidFill>
            <a:srgbClr val="54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499616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63D"/>
                </a:solidFill>
              </a:rP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56816"/>
            <a:ext cx="4846320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• Tune α using cross-validation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• Explore time-aware forecasting using Date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• Encode City/Country where appropriate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• Compare with Elastic Net and tree-based regressors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• Analyze coefficient stability and feature importance</a:t>
            </a:r>
          </a:p>
          <a:p>
            <a:pPr>
              <a:spcAft>
                <a:spcPts val="400"/>
              </a:spcAft>
              <a:defRPr sz="1350">
                <a:solidFill>
                  <a:srgbClr val="233135"/>
                </a:solidFill>
              </a:defRPr>
            </a:pPr>
            <a:r>
              <a:t>• Deploy an AQI prediction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C6F"/>
                </a:solidFill>
              </a:rPr>
              <a:t>Review-3 • Machine Learning • CSE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18363D"/>
                </a:solidFill>
              </a:rPr>
              <a:t>Thank You</a:t>
            </a:r>
          </a:p>
          <a:p>
            <a:pPr algn="ctr"/>
            <a:r>
              <a:rPr sz="2000">
                <a:solidFill>
                  <a:srgbClr val="27776F"/>
                </a:solidFill>
              </a:rPr>
              <a:t>Questions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74920" y="3657600"/>
            <a:ext cx="2011680" cy="347472"/>
          </a:xfrm>
          <a:prstGeom prst="roundRect">
            <a:avLst/>
          </a:prstGeom>
          <a:solidFill>
            <a:srgbClr val="CF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74920" y="3675887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REVIEW –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434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33135"/>
                </a:solidFill>
              </a:rPr>
              <a:t>Penneti Bindhu Madhavi  •  2520030077
Mandapati Keerthi Sri  •  2520030079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C6F"/>
                </a:solidFill>
              </a:rPr>
              <a:t>Review-3 • Machine Learning • CSE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